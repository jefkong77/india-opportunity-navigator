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993" autoAdjust="0"/>
  </p:normalViewPr>
  <p:slideViewPr>
    <p:cSldViewPr snapToGrid="0">
      <p:cViewPr varScale="1">
        <p:scale>
          <a:sx n="54" d="100"/>
          <a:sy n="54" d="100"/>
        </p:scale>
        <p:origin x="11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Kelvin. Target: 20 seconds.</a:t>
            </a:r>
          </a:p>
          <a:p>
            <a:r>
              <a:t>Introduce the app and the team. Explain that the project helps Singapore SMEs and market advisors explore evidence-linked India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Kelvin. Target: 40 seconds.</a:t>
            </a:r>
          </a:p>
          <a:p>
            <a:r>
              <a:t>Explain the problem first. Users often review disconnected sources before they can compare market opportunities.</a:t>
            </a:r>
          </a:p>
          <a:p>
            <a:r>
              <a:t>Identify the users: Singapore SMEs, market advisors and international business teams.</a:t>
            </a:r>
          </a:p>
          <a:p>
            <a:r>
              <a:t>Visual source: docs/screenshots/opportunity-list.png.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Kelvin. Target: 45 seconds.</a:t>
            </a:r>
          </a:p>
          <a:p>
            <a:r>
              <a:t>Walk through the decision journey: explore, assess and verify.</a:t>
            </a:r>
          </a:p>
          <a:p>
            <a:r>
              <a:t>Point out that each record includes a rationale, recommended action and evidence link.</a:t>
            </a:r>
          </a:p>
          <a:p>
            <a:r>
              <a:t>Visual source: docs/screenshots/opportunity-details.png.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Jeffrey. Target: 40 seconds.</a:t>
            </a:r>
          </a:p>
          <a:p>
            <a:r>
              <a:t>Explain that the form uses controlled inputs and creates a record through MockAPI.</a:t>
            </a:r>
          </a:p>
          <a:p>
            <a:r>
              <a:t>Explain that the shortlist uses native browser drag events. localStorage preserves the card order after refresh.</a:t>
            </a:r>
          </a:p>
          <a:p>
            <a:r>
              <a:t>Visual sources: docs/screenshots/add-opportunity.png and docs/screenshots/shortlist-drag-drop.png.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Jeffrey. Target: 60 seconds.</a:t>
            </a:r>
          </a:p>
          <a:p>
            <a:r>
              <a:t>Netlify hosts the public Vite build. React Router connects the four application views.</a:t>
            </a:r>
          </a:p>
          <a:p>
            <a:r>
              <a:t>React state controls the interface. MockAPI stores the shared records. localStorage preserves the shortlist and its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Presenter: Jeffrey. Target: 60 seconds.</a:t>
            </a:r>
          </a:p>
          <a:p>
            <a:r>
              <a:rPr dirty="0"/>
              <a:t>Link each concept to something the audience will see in the demo.</a:t>
            </a:r>
          </a:p>
          <a:p>
            <a:r>
              <a:rPr dirty="0" err="1"/>
              <a:t>Emphasise</a:t>
            </a:r>
            <a:r>
              <a:rPr dirty="0"/>
              <a:t> that the team can explain the code rather than only showing the final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Jeffrey. Target: 50 seconds.</a:t>
            </a:r>
          </a:p>
          <a:p>
            <a:r>
              <a:t>Show that work is divided and traceable through GitHub Issues, feature branches and pull requests.</a:t>
            </a:r>
          </a:p>
          <a:p>
            <a:r>
              <a:t>Mention the 10 automated tests, lint, production build, browser checks and Netlify deployment.</a:t>
            </a:r>
          </a:p>
          <a:p>
            <a:r>
              <a:t>Visual source: docs/screenshots/github-project-board.png.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Presenters: Kelvin and Jeffrey. Target: 60 seconds for this slide.</a:t>
            </a:r>
          </a:p>
          <a:p>
            <a:r>
              <a:t>Kelvin summarises learning about translating requirements into the user journey and working through GitHub.</a:t>
            </a:r>
          </a:p>
          <a:p>
            <a:r>
              <a:t>Jeffrey summarises learning about state, integration, testing, deployment and documentation.</a:t>
            </a:r>
          </a:p>
          <a:p>
            <a:r>
              <a:t>Move directly into the live demo. Keep the full presentation within 10 to 15 minutes.</a:t>
            </a:r>
          </a:p>
          <a:p>
            <a:r>
              <a:t>Backup plan: use the local app with npm.cmd run dev, then screenshots if connectivity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17DA79-FAA8-4199-AB0E-FD371479C0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7C39D8-632F-41F3-9429-C9A1104B6AB2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138A5B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C5A3CF-24F3-4545-A146-39A8E0802443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A8D8C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A8D8C4"/>
                </a:solidFill>
                <a:latin typeface="Bitstream Charter"/>
                <a:ea typeface="Bitstream Charter"/>
                <a:cs typeface="Bitstream Charter"/>
              </a:rPr>
              <a:t>SCTP MODULE 2 GROUP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14EC4C-CB5D-4C4B-9030-9DB6D327908D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8572500" cy="1695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India Opportunity</a:t>
            </a:r>
          </a:p>
          <a:p>
            <a:pPr>
              <a:defRPr sz="5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Navigator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CEE20B-BA5C-4500-B947-FF541B0AD549}"/>
              </a:ext>
            </a:extLst>
          </p:cNvPr>
          <p:cNvSpPr>
            <a:spLocks noGrp="1"/>
          </p:cNvSpPr>
          <p:nvPr/>
        </p:nvSpPr>
        <p:spPr>
          <a:xfrm>
            <a:off x="838200" y="3476625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C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DCE7EF"/>
                </a:solidFill>
                <a:latin typeface="Bitstream Charter"/>
                <a:ea typeface="Bitstream Charter"/>
                <a:cs typeface="Bitstream Charter"/>
              </a:rPr>
              <a:t>Evidence-linked opportunities for Singapore SMEs exploring India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DE4680-DD26-4219-8FBF-EFC19C6D7C2E}"/>
              </a:ext>
            </a:extLst>
          </p:cNvPr>
          <p:cNvSpPr>
            <a:spLocks noGrp="1"/>
          </p:cNvSpPr>
          <p:nvPr/>
        </p:nvSpPr>
        <p:spPr>
          <a:xfrm>
            <a:off x="838200" y="4476750"/>
            <a:ext cx="1562100" cy="6667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1F13D-06A4-408E-9F7A-C217493C7683}"/>
              </a:ext>
            </a:extLst>
          </p:cNvPr>
          <p:cNvSpPr>
            <a:spLocks noGrp="1"/>
          </p:cNvSpPr>
          <p:nvPr/>
        </p:nvSpPr>
        <p:spPr>
          <a:xfrm>
            <a:off x="838200" y="4905375"/>
            <a:ext cx="6286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Kelvin Lee and Jeffrey Kong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5A7F0A-195A-4E82-A877-B462D709B517}"/>
              </a:ext>
            </a:extLst>
          </p:cNvPr>
          <p:cNvSpPr>
            <a:spLocks noGrp="1"/>
          </p:cNvSpPr>
          <p:nvPr/>
        </p:nvSpPr>
        <p:spPr>
          <a:xfrm>
            <a:off x="838200" y="5410200"/>
            <a:ext cx="628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C7D5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C7D5DF"/>
                </a:solidFill>
                <a:latin typeface="Bitstream Charter"/>
                <a:ea typeface="Bitstream Charter"/>
                <a:cs typeface="Bitstream Charter"/>
              </a:rPr>
              <a:t>Lesson 2.19, 1 October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DA9E86-66DD-4FF5-BB7B-19C3F13EC2E8}"/>
              </a:ext>
            </a:extLst>
          </p:cNvPr>
          <p:cNvSpPr>
            <a:spLocks noGrp="1"/>
          </p:cNvSpPr>
          <p:nvPr/>
        </p:nvSpPr>
        <p:spPr>
          <a:xfrm>
            <a:off x="8934450" y="4381500"/>
            <a:ext cx="2381250" cy="1352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FFE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E4C2"/>
                </a:solidFill>
                <a:latin typeface="Bitstream Charter"/>
                <a:ea typeface="Bitstream Charter"/>
                <a:cs typeface="Bitstream Charter"/>
              </a:rPr>
              <a:t>Browse opportunities</a:t>
            </a:r>
          </a:p>
          <a:p>
            <a:pPr>
              <a:defRPr sz="1800" b="1">
                <a:solidFill>
                  <a:srgbClr val="FFE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E4C2"/>
                </a:solidFill>
                <a:latin typeface="Bitstream Charter"/>
                <a:ea typeface="Bitstream Charter"/>
                <a:cs typeface="Bitstream Charter"/>
              </a:rPr>
              <a:t>Review evidence</a:t>
            </a:r>
          </a:p>
          <a:p>
            <a:pPr>
              <a:defRPr sz="1800" b="1">
                <a:solidFill>
                  <a:srgbClr val="FFE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E4C2"/>
                </a:solidFill>
                <a:latin typeface="Bitstream Charter"/>
                <a:ea typeface="Bitstream Charter"/>
                <a:cs typeface="Bitstream Charter"/>
              </a:rPr>
              <a:t>Build a shortlist</a:t>
            </a:r>
          </a:p>
        </p:txBody>
      </p:sp>
    </p:spTree>
    <p:extLst>
      <p:ext uri="{BB962C8B-B14F-4D97-AF65-F5344CB8AC3E}">
        <p14:creationId xmlns:p14="http://schemas.microsoft.com/office/powerpoint/2010/main" val="37491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11C67FE-472F-401D-BA5C-664578E6DF5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WHY WE BUILT 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9101EE-D6A2-457D-94FE-0D117245807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Problem and target users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196902-1CD0-435F-8758-BCDEDEE097A5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819150" cy="5715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E10F8B-9C83-464C-8F7B-7404532FCE2F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4476750" cy="1695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India market information is spread across many sources. SMEs need a simpler way to compare opportunities before committing time and resources.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6A6F0C-E29D-4BFF-A4B3-A6272AB35F32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BUILT FOR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2FBB40-C70A-477B-BFD7-D1F3DCAF9148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B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B4D"/>
                </a:solidFill>
                <a:latin typeface="Bitstream Charter"/>
                <a:ea typeface="Bitstream Charter"/>
                <a:cs typeface="Bitstream Charter"/>
              </a:rPr>
              <a:t>Singapore SMEs exploring India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38C303-6EC7-4355-9E3F-835B3AFBA3C1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4476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B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B4D"/>
                </a:solidFill>
                <a:latin typeface="Bitstream Charter"/>
                <a:ea typeface="Bitstream Charter"/>
                <a:cs typeface="Bitstream Charter"/>
              </a:rPr>
              <a:t>Market advisors supporting internationalisation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0477C-8CA3-421B-8981-98645BCE9375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2B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B4D"/>
                </a:solidFill>
                <a:latin typeface="Bitstream Charter"/>
                <a:ea typeface="Bitstream Charter"/>
                <a:cs typeface="Bitstream Charter"/>
              </a:rPr>
              <a:t>International business teams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690400-ECB0-484E-A930-FB58C8A580EA}"/>
              </a:ext>
            </a:extLst>
          </p:cNvPr>
          <p:cNvSpPr>
            <a:spLocks noGrp="1"/>
          </p:cNvSpPr>
          <p:nvPr/>
        </p:nvSpPr>
        <p:spPr>
          <a:xfrm>
            <a:off x="5676900" y="1562100"/>
            <a:ext cx="5886450" cy="453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</a:ln>
        </p:spPr>
        <p:txBody>
          <a:bodyPr/>
          <a:lstStyle/>
          <a:p>
            <a:endParaRPr lang="en-SG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t="11500" b="2000"/>
          <a:stretch/>
        </p:blipFill>
        <p:spPr>
          <a:xfrm>
            <a:off x="5734050" y="1619250"/>
            <a:ext cx="57721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7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CF089CA-4A61-4784-B90D-0A9AED6C1189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USER JOURNEY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26EAA5-B26E-4A85-A1DF-06073B7443E7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From discovery to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F65E83-7CBA-46C5-A068-DCD50CC8DE61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819150" cy="5715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D7EDDE-242F-4661-B95A-8E6830A03223}"/>
              </a:ext>
            </a:extLst>
          </p:cNvPr>
          <p:cNvSpPr>
            <a:spLocks noGrp="1"/>
          </p:cNvSpPr>
          <p:nvPr/>
        </p:nvSpPr>
        <p:spPr>
          <a:xfrm>
            <a:off x="704850" y="176212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71933E-902D-42C3-A293-C843CD2C026F}"/>
              </a:ext>
            </a:extLst>
          </p:cNvPr>
          <p:cNvSpPr>
            <a:spLocks noGrp="1"/>
          </p:cNvSpPr>
          <p:nvPr/>
        </p:nvSpPr>
        <p:spPr>
          <a:xfrm>
            <a:off x="1352550" y="175260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Explore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96A7C-765A-4552-9ECC-006D9D3CB9A0}"/>
              </a:ext>
            </a:extLst>
          </p:cNvPr>
          <p:cNvSpPr>
            <a:spLocks noGrp="1"/>
          </p:cNvSpPr>
          <p:nvPr/>
        </p:nvSpPr>
        <p:spPr>
          <a:xfrm>
            <a:off x="1352550" y="2171700"/>
            <a:ext cx="3286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rPr>
              <a:t>Search by keyword, state and sector.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0E3394-EAB9-44FC-98D9-E55A73FBD3C1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F6D2F3-4301-4076-84E9-BA9A4759C5B3}"/>
              </a:ext>
            </a:extLst>
          </p:cNvPr>
          <p:cNvSpPr>
            <a:spLocks noGrp="1"/>
          </p:cNvSpPr>
          <p:nvPr/>
        </p:nvSpPr>
        <p:spPr>
          <a:xfrm>
            <a:off x="1352550" y="3133725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Assess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AB1C4-7CA4-4C74-B4B7-DF4732B83504}"/>
              </a:ext>
            </a:extLst>
          </p:cNvPr>
          <p:cNvSpPr>
            <a:spLocks noGrp="1"/>
          </p:cNvSpPr>
          <p:nvPr/>
        </p:nvSpPr>
        <p:spPr>
          <a:xfrm>
            <a:off x="1352550" y="3552825"/>
            <a:ext cx="3286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rPr>
              <a:t>Review the summary, rationale and recommended action.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479E74-FA64-4478-993C-F8B65B02AAB0}"/>
              </a:ext>
            </a:extLst>
          </p:cNvPr>
          <p:cNvSpPr>
            <a:spLocks noGrp="1"/>
          </p:cNvSpPr>
          <p:nvPr/>
        </p:nvSpPr>
        <p:spPr>
          <a:xfrm>
            <a:off x="704850" y="452437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8813FD-B9DB-4A13-ADF4-8866215B9A6D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Verify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952D08-5F11-4DDB-A8FC-1F58197820C1}"/>
              </a:ext>
            </a:extLst>
          </p:cNvPr>
          <p:cNvSpPr>
            <a:spLocks noGrp="1"/>
          </p:cNvSpPr>
          <p:nvPr/>
        </p:nvSpPr>
        <p:spPr>
          <a:xfrm>
            <a:off x="1352550" y="4933950"/>
            <a:ext cx="3286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rPr>
              <a:t>Open the linked source before saving an opportunity.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88690D-E9D3-4E46-AF3D-885403AF2E15}"/>
              </a:ext>
            </a:extLst>
          </p:cNvPr>
          <p:cNvSpPr>
            <a:spLocks noGrp="1"/>
          </p:cNvSpPr>
          <p:nvPr/>
        </p:nvSpPr>
        <p:spPr>
          <a:xfrm>
            <a:off x="5410200" y="1466850"/>
            <a:ext cx="6038850" cy="487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</a:ln>
        </p:spPr>
        <p:txBody>
          <a:bodyPr/>
          <a:lstStyle/>
          <a:p>
            <a:endParaRPr lang="en-SG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rcRect l="23500" t="12500" r="36500" b="500"/>
          <a:stretch/>
        </p:blipFill>
        <p:spPr>
          <a:xfrm>
            <a:off x="5467350" y="1524000"/>
            <a:ext cx="59245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83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09CF41C-7860-4470-9E2B-828679A755D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CREATE AND PRIORITISE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843EA3-7E9C-4A55-A472-E2B2540C91F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Main application 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A44869-14B7-4F1D-A36E-945C614A33C5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819150" cy="5715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5341A-5F8B-4EA5-AE0B-89B8265D2EB2}"/>
              </a:ext>
            </a:extLst>
          </p:cNvPr>
          <p:cNvSpPr>
            <a:spLocks noGrp="1"/>
          </p:cNvSpPr>
          <p:nvPr/>
        </p:nvSpPr>
        <p:spPr>
          <a:xfrm>
            <a:off x="514350" y="1447800"/>
            <a:ext cx="50673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</a:ln>
        </p:spPr>
        <p:txBody>
          <a:bodyPr/>
          <a:lstStyle/>
          <a:p>
            <a:endParaRPr lang="en-SG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30000" t="2000" r="40000" b="7000"/>
          <a:stretch/>
        </p:blipFill>
        <p:spPr>
          <a:xfrm>
            <a:off x="571500" y="1504950"/>
            <a:ext cx="4953000" cy="3886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A30887-90E6-43FF-A5ED-84D68B82F033}"/>
              </a:ext>
            </a:extLst>
          </p:cNvPr>
          <p:cNvSpPr>
            <a:spLocks noGrp="1"/>
          </p:cNvSpPr>
          <p:nvPr/>
        </p:nvSpPr>
        <p:spPr>
          <a:xfrm>
            <a:off x="5867400" y="1447800"/>
            <a:ext cx="58102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</a:ln>
        </p:spPr>
        <p:txBody>
          <a:bodyPr/>
          <a:lstStyle/>
          <a:p>
            <a:endParaRPr lang="en-SG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rcRect l="16000" t="16000" r="16000" b="2000"/>
          <a:stretch/>
        </p:blipFill>
        <p:spPr>
          <a:xfrm>
            <a:off x="5924550" y="1504950"/>
            <a:ext cx="5695950" cy="3886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E9524BA-0D71-4585-BF6A-A12A0EB9CA22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Controlled 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481FA2-5BE1-4D73-997B-C8891D1A1165}"/>
              </a:ext>
            </a:extLst>
          </p:cNvPr>
          <p:cNvSpPr>
            <a:spLocks noGrp="1"/>
          </p:cNvSpPr>
          <p:nvPr/>
        </p:nvSpPr>
        <p:spPr>
          <a:xfrm>
            <a:off x="685800" y="60198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rPr>
              <a:t>Creates and deletes MockAPI records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A3F9A2-DF6B-4951-A5FB-91ABE1B5796E}"/>
              </a:ext>
            </a:extLst>
          </p:cNvPr>
          <p:cNvSpPr>
            <a:spLocks noGrp="1"/>
          </p:cNvSpPr>
          <p:nvPr/>
        </p:nvSpPr>
        <p:spPr>
          <a:xfrm>
            <a:off x="6048375" y="56388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Persistent shortlist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5A767-B6C1-4322-A8A5-A6FD6B55BD66}"/>
              </a:ext>
            </a:extLst>
          </p:cNvPr>
          <p:cNvSpPr>
            <a:spLocks noGrp="1"/>
          </p:cNvSpPr>
          <p:nvPr/>
        </p:nvSpPr>
        <p:spPr>
          <a:xfrm>
            <a:off x="6048375" y="6019800"/>
            <a:ext cx="5429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rPr>
              <a:t>Native drag events reorder cards; localStorage retains the order</a:t>
            </a:r>
          </a:p>
        </p:txBody>
      </p:sp>
    </p:spTree>
    <p:extLst>
      <p:ext uri="{BB962C8B-B14F-4D97-AF65-F5344CB8AC3E}">
        <p14:creationId xmlns:p14="http://schemas.microsoft.com/office/powerpoint/2010/main" val="164122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0C27A3-1F43-4E48-BAE8-852F2F594F8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HOW THE PARTS CONNECT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059724-818A-442E-BE63-2FA72885A9D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Application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B0FEF3-468B-4E4F-A317-EE4320B5F7B2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819150" cy="5715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FEA8A2-AF6B-4AAF-A0C5-5E9AC9C2BB67}"/>
              </a:ext>
            </a:extLst>
          </p:cNvPr>
          <p:cNvSpPr>
            <a:spLocks noGrp="1"/>
          </p:cNvSpPr>
          <p:nvPr/>
        </p:nvSpPr>
        <p:spPr>
          <a:xfrm>
            <a:off x="4333875" y="1524000"/>
            <a:ext cx="3524250" cy="9906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0A9584-8588-4AE9-93FA-B0FBC911EBC7}"/>
              </a:ext>
            </a:extLst>
          </p:cNvPr>
          <p:cNvSpPr>
            <a:spLocks noGrp="1"/>
          </p:cNvSpPr>
          <p:nvPr/>
        </p:nvSpPr>
        <p:spPr>
          <a:xfrm>
            <a:off x="4619625" y="1733550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A8D8C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A8D8C4"/>
                </a:solidFill>
                <a:latin typeface="Bitstream Charter"/>
                <a:ea typeface="Bitstream Charter"/>
                <a:cs typeface="Bitstream Charter"/>
              </a:rPr>
              <a:t>NETLIFY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648FB8-5238-44BA-BC93-67042CAECD87}"/>
              </a:ext>
            </a:extLst>
          </p:cNvPr>
          <p:cNvSpPr>
            <a:spLocks noGrp="1"/>
          </p:cNvSpPr>
          <p:nvPr/>
        </p:nvSpPr>
        <p:spPr>
          <a:xfrm>
            <a:off x="4619625" y="2047875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Public Vite build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6AC58F-9FC8-49E8-89C9-9604636F2053}"/>
              </a:ext>
            </a:extLst>
          </p:cNvPr>
          <p:cNvSpPr>
            <a:spLocks noGrp="1"/>
          </p:cNvSpPr>
          <p:nvPr/>
        </p:nvSpPr>
        <p:spPr>
          <a:xfrm>
            <a:off x="4333875" y="2990850"/>
            <a:ext cx="3524250" cy="1371600"/>
          </a:xfrm>
          <a:prstGeom prst="rect">
            <a:avLst/>
          </a:prstGeom>
          <a:solidFill>
            <a:srgbClr val="FFF8EF"/>
          </a:solidFill>
          <a:ln w="9525">
            <a:solidFill>
              <a:srgbClr val="F28C28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70D376-E009-4A89-97F8-13E0F9516C57}"/>
              </a:ext>
            </a:extLst>
          </p:cNvPr>
          <p:cNvSpPr>
            <a:spLocks noGrp="1"/>
          </p:cNvSpPr>
          <p:nvPr/>
        </p:nvSpPr>
        <p:spPr>
          <a:xfrm>
            <a:off x="4619625" y="321945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REACT + VITE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9188DE-90AF-4258-A579-2C956FBFD15F}"/>
              </a:ext>
            </a:extLst>
          </p:cNvPr>
          <p:cNvSpPr>
            <a:spLocks noGrp="1"/>
          </p:cNvSpPr>
          <p:nvPr/>
        </p:nvSpPr>
        <p:spPr>
          <a:xfrm>
            <a:off x="4619625" y="3609975"/>
            <a:ext cx="2952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Routes, components and state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8AE79D-953E-4666-BA2D-877F61E901C9}"/>
              </a:ext>
            </a:extLst>
          </p:cNvPr>
          <p:cNvSpPr>
            <a:spLocks noGrp="1"/>
          </p:cNvSpPr>
          <p:nvPr/>
        </p:nvSpPr>
        <p:spPr>
          <a:xfrm>
            <a:off x="1524000" y="5048250"/>
            <a:ext cx="3905250" cy="1257300"/>
          </a:xfrm>
          <a:prstGeom prst="rect">
            <a:avLst/>
          </a:prstGeom>
          <a:solidFill>
            <a:srgbClr val="EFF8F4"/>
          </a:solidFill>
          <a:ln w="9525">
            <a:solidFill>
              <a:srgbClr val="138A5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12D557-9936-43FC-B8EA-D1BC07876386}"/>
              </a:ext>
            </a:extLst>
          </p:cNvPr>
          <p:cNvSpPr>
            <a:spLocks noGrp="1"/>
          </p:cNvSpPr>
          <p:nvPr/>
        </p:nvSpPr>
        <p:spPr>
          <a:xfrm>
            <a:off x="1809750" y="5238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MOCKAPI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80E1BC-04C4-4E60-A89F-17573A5B99DC}"/>
              </a:ext>
            </a:extLst>
          </p:cNvPr>
          <p:cNvSpPr>
            <a:spLocks noGrp="1"/>
          </p:cNvSpPr>
          <p:nvPr/>
        </p:nvSpPr>
        <p:spPr>
          <a:xfrm>
            <a:off x="1809750" y="5600700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Shared 12-field opportunity records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C966A-B041-436E-B28F-0B2D344A884B}"/>
              </a:ext>
            </a:extLst>
          </p:cNvPr>
          <p:cNvSpPr>
            <a:spLocks noGrp="1"/>
          </p:cNvSpPr>
          <p:nvPr/>
        </p:nvSpPr>
        <p:spPr>
          <a:xfrm>
            <a:off x="6762750" y="5048250"/>
            <a:ext cx="3905250" cy="1257300"/>
          </a:xfrm>
          <a:prstGeom prst="rect">
            <a:avLst/>
          </a:prstGeom>
          <a:solidFill>
            <a:srgbClr val="FFF8EF"/>
          </a:solidFill>
          <a:ln w="9525">
            <a:solidFill>
              <a:srgbClr val="F28C28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8148FF-BFAA-4304-93B3-145EEC2B6532}"/>
              </a:ext>
            </a:extLst>
          </p:cNvPr>
          <p:cNvSpPr>
            <a:spLocks noGrp="1"/>
          </p:cNvSpPr>
          <p:nvPr/>
        </p:nvSpPr>
        <p:spPr>
          <a:xfrm>
            <a:off x="7048500" y="5238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LOCALSTORAGE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0BF45E-A708-440A-93C7-734E05D6334B}"/>
              </a:ext>
            </a:extLst>
          </p:cNvPr>
          <p:cNvSpPr>
            <a:spLocks noGrp="1"/>
          </p:cNvSpPr>
          <p:nvPr/>
        </p:nvSpPr>
        <p:spPr>
          <a:xfrm>
            <a:off x="7048500" y="5600700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Saved shortlist and card order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539BCE-3B84-401E-89A1-C262A5CA4707}"/>
              </a:ext>
            </a:extLst>
          </p:cNvPr>
          <p:cNvSpPr>
            <a:spLocks noGrp="1"/>
          </p:cNvSpPr>
          <p:nvPr/>
        </p:nvSpPr>
        <p:spPr>
          <a:xfrm>
            <a:off x="6038850" y="2514600"/>
            <a:ext cx="114300" cy="476250"/>
          </a:xfrm>
          <a:prstGeom prst="rect">
            <a:avLst/>
          </a:prstGeom>
          <a:solidFill>
            <a:srgbClr val="D4DCE3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64089F-BCA4-4A5F-B447-285FBEABD713}"/>
              </a:ext>
            </a:extLst>
          </p:cNvPr>
          <p:cNvSpPr>
            <a:spLocks noGrp="1"/>
          </p:cNvSpPr>
          <p:nvPr/>
        </p:nvSpPr>
        <p:spPr>
          <a:xfrm>
            <a:off x="6038850" y="4362450"/>
            <a:ext cx="114300" cy="400050"/>
          </a:xfrm>
          <a:prstGeom prst="rect">
            <a:avLst/>
          </a:prstGeom>
          <a:solidFill>
            <a:srgbClr val="D4DCE3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8AEFBA-DAE1-4141-B2F8-2FDB4C45858F}"/>
              </a:ext>
            </a:extLst>
          </p:cNvPr>
          <p:cNvSpPr>
            <a:spLocks noGrp="1"/>
          </p:cNvSpPr>
          <p:nvPr/>
        </p:nvSpPr>
        <p:spPr>
          <a:xfrm>
            <a:off x="3429000" y="4705350"/>
            <a:ext cx="5334000" cy="114300"/>
          </a:xfrm>
          <a:prstGeom prst="rect">
            <a:avLst/>
          </a:prstGeom>
          <a:solidFill>
            <a:srgbClr val="D4DCE3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4E8CAB-B0C7-425D-9D2E-8058C5E5F404}"/>
              </a:ext>
            </a:extLst>
          </p:cNvPr>
          <p:cNvSpPr>
            <a:spLocks noGrp="1"/>
          </p:cNvSpPr>
          <p:nvPr/>
        </p:nvSpPr>
        <p:spPr>
          <a:xfrm>
            <a:off x="3371850" y="4705350"/>
            <a:ext cx="114300" cy="342900"/>
          </a:xfrm>
          <a:prstGeom prst="rect">
            <a:avLst/>
          </a:prstGeom>
          <a:solidFill>
            <a:srgbClr val="D4DCE3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04853F-DA28-4B88-B085-462E506A0D36}"/>
              </a:ext>
            </a:extLst>
          </p:cNvPr>
          <p:cNvSpPr>
            <a:spLocks noGrp="1"/>
          </p:cNvSpPr>
          <p:nvPr/>
        </p:nvSpPr>
        <p:spPr>
          <a:xfrm>
            <a:off x="8705850" y="4705350"/>
            <a:ext cx="114300" cy="342900"/>
          </a:xfrm>
          <a:prstGeom prst="rect">
            <a:avLst/>
          </a:prstGeom>
          <a:solidFill>
            <a:srgbClr val="D4DCE3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2211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9F584C7-E22C-4DF2-BF5F-5F5EC279F44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FROM LESSONS TO APPLICATION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9D246-9AC7-4E7A-999C-8DA40DD2CB2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React concepts applied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7E6525-40AA-4355-AFD5-C4296A962392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819150" cy="5715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498183-AA23-4BDE-B5B0-654CF5A9F294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09575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The project applies the React lessons through one complete user 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13D856-76D0-411D-99ED-C0AF2B4951D9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4095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Every team member can explain how these concepts support the live application.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A0EBB-774C-4AC8-B8D8-1C8912A05A46}"/>
              </a:ext>
            </a:extLst>
          </p:cNvPr>
          <p:cNvSpPr>
            <a:spLocks noGrp="1"/>
          </p:cNvSpPr>
          <p:nvPr/>
        </p:nvSpPr>
        <p:spPr>
          <a:xfrm>
            <a:off x="5381625" y="1666875"/>
            <a:ext cx="76200" cy="62865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707890-7ADC-4FA8-9D66-442D19C22762}"/>
              </a:ext>
            </a:extLst>
          </p:cNvPr>
          <p:cNvSpPr>
            <a:spLocks noGrp="1"/>
          </p:cNvSpPr>
          <p:nvPr/>
        </p:nvSpPr>
        <p:spPr>
          <a:xfrm>
            <a:off x="5667375" y="1600200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JSX and props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F8CE7-338F-4DF4-AC41-9397F3A2E176}"/>
              </a:ext>
            </a:extLst>
          </p:cNvPr>
          <p:cNvSpPr>
            <a:spLocks noGrp="1"/>
          </p:cNvSpPr>
          <p:nvPr/>
        </p:nvSpPr>
        <p:spPr>
          <a:xfrm>
            <a:off x="5667375" y="198120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rPr>
              <a:t>Reusable navigation, filters and opportunity cards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37DED8-6218-4D99-B59F-F7E6A19A81B4}"/>
              </a:ext>
            </a:extLst>
          </p:cNvPr>
          <p:cNvSpPr>
            <a:spLocks noGrp="1"/>
          </p:cNvSpPr>
          <p:nvPr/>
        </p:nvSpPr>
        <p:spPr>
          <a:xfrm>
            <a:off x="5381625" y="2581275"/>
            <a:ext cx="76200" cy="628650"/>
          </a:xfrm>
          <a:prstGeom prst="rect">
            <a:avLst/>
          </a:prstGeom>
          <a:solidFill>
            <a:srgbClr val="138A5B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0635B4-3254-4CBD-A570-8F6EC0964C58}"/>
              </a:ext>
            </a:extLst>
          </p:cNvPr>
          <p:cNvSpPr>
            <a:spLocks noGrp="1"/>
          </p:cNvSpPr>
          <p:nvPr/>
        </p:nvSpPr>
        <p:spPr>
          <a:xfrm>
            <a:off x="5667375" y="2514600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useState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60CF37-4271-4381-8FA1-3EAA77B08C17}"/>
              </a:ext>
            </a:extLst>
          </p:cNvPr>
          <p:cNvSpPr>
            <a:spLocks noGrp="1"/>
          </p:cNvSpPr>
          <p:nvPr/>
        </p:nvSpPr>
        <p:spPr>
          <a:xfrm>
            <a:off x="5667375" y="289560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rPr>
              <a:t>Filters, form inputs, loading, errors and shortlist state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809FA6-9AD5-4B98-BD11-D9FD89ACF448}"/>
              </a:ext>
            </a:extLst>
          </p:cNvPr>
          <p:cNvSpPr>
            <a:spLocks noGrp="1"/>
          </p:cNvSpPr>
          <p:nvPr/>
        </p:nvSpPr>
        <p:spPr>
          <a:xfrm>
            <a:off x="5381625" y="3495675"/>
            <a:ext cx="76200" cy="62865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82F82E-92F1-413A-9ADB-EF04BAFA7900}"/>
              </a:ext>
            </a:extLst>
          </p:cNvPr>
          <p:cNvSpPr>
            <a:spLocks noGrp="1"/>
          </p:cNvSpPr>
          <p:nvPr/>
        </p:nvSpPr>
        <p:spPr>
          <a:xfrm>
            <a:off x="5667375" y="3429000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useEffect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7A2819-A3EA-43AF-9C96-9049C628FF5B}"/>
              </a:ext>
            </a:extLst>
          </p:cNvPr>
          <p:cNvSpPr>
            <a:spLocks noGrp="1"/>
          </p:cNvSpPr>
          <p:nvPr/>
        </p:nvSpPr>
        <p:spPr>
          <a:xfrm>
            <a:off x="5667375" y="381000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rPr>
              <a:t>Fetches records and persists shortlist order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FFB592-D01B-4EF5-90A0-16D31D34709F}"/>
              </a:ext>
            </a:extLst>
          </p:cNvPr>
          <p:cNvSpPr>
            <a:spLocks noGrp="1"/>
          </p:cNvSpPr>
          <p:nvPr/>
        </p:nvSpPr>
        <p:spPr>
          <a:xfrm>
            <a:off x="5381625" y="4410075"/>
            <a:ext cx="76200" cy="628650"/>
          </a:xfrm>
          <a:prstGeom prst="rect">
            <a:avLst/>
          </a:prstGeom>
          <a:solidFill>
            <a:srgbClr val="138A5B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19BF3F-E9D0-4A81-A92D-B775EDB1FA8B}"/>
              </a:ext>
            </a:extLst>
          </p:cNvPr>
          <p:cNvSpPr>
            <a:spLocks noGrp="1"/>
          </p:cNvSpPr>
          <p:nvPr/>
        </p:nvSpPr>
        <p:spPr>
          <a:xfrm>
            <a:off x="5667375" y="4343400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React Router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1241A0-330D-46AD-9ABB-88D5E9B0336D}"/>
              </a:ext>
            </a:extLst>
          </p:cNvPr>
          <p:cNvSpPr>
            <a:spLocks noGrp="1"/>
          </p:cNvSpPr>
          <p:nvPr/>
        </p:nvSpPr>
        <p:spPr>
          <a:xfrm>
            <a:off x="5667375" y="472440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rPr>
              <a:t>Catalogue, details, form and shortlist routes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3D6EF9-3346-438B-9717-8C64058C74D3}"/>
              </a:ext>
            </a:extLst>
          </p:cNvPr>
          <p:cNvSpPr>
            <a:spLocks noGrp="1"/>
          </p:cNvSpPr>
          <p:nvPr/>
        </p:nvSpPr>
        <p:spPr>
          <a:xfrm>
            <a:off x="5381625" y="5324475"/>
            <a:ext cx="76200" cy="62865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A2F080-6845-4578-9034-B6D467EAC001}"/>
              </a:ext>
            </a:extLst>
          </p:cNvPr>
          <p:cNvSpPr>
            <a:spLocks noGrp="1"/>
          </p:cNvSpPr>
          <p:nvPr/>
        </p:nvSpPr>
        <p:spPr>
          <a:xfrm>
            <a:off x="5667375" y="5257800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Conditional rendering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47EF09-0DB7-46BA-A644-9F03440E4189}"/>
              </a:ext>
            </a:extLst>
          </p:cNvPr>
          <p:cNvSpPr>
            <a:spLocks noGrp="1"/>
          </p:cNvSpPr>
          <p:nvPr/>
        </p:nvSpPr>
        <p:spPr>
          <a:xfrm>
            <a:off x="5667375" y="563880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C6F82"/>
                </a:solidFill>
                <a:latin typeface="Bitstream Charter"/>
                <a:ea typeface="Bitstream Charter"/>
                <a:cs typeface="Bitstream Charter"/>
              </a:rPr>
              <a:t>Loading, error and empty-result feedback</a:t>
            </a:r>
          </a:p>
        </p:txBody>
      </p:sp>
    </p:spTree>
    <p:extLst>
      <p:ext uri="{BB962C8B-B14F-4D97-AF65-F5344CB8AC3E}">
        <p14:creationId xmlns:p14="http://schemas.microsoft.com/office/powerpoint/2010/main" val="416958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7C63B9E-25F1-41C0-93B5-8F994EBDF07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GITHUB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02A94E-9D6A-4C42-8603-57107713098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Collaboration and quality checks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B199B4-368D-416A-A78B-D59953DD16FE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819150" cy="5715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0A4552-5D49-4F45-84E4-D9D5430A3B0F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71818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</a:ln>
        </p:spPr>
        <p:txBody>
          <a:bodyPr/>
          <a:lstStyle/>
          <a:p>
            <a:endParaRPr lang="en-SG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t="1000" b="3000"/>
          <a:stretch/>
        </p:blipFill>
        <p:spPr>
          <a:xfrm>
            <a:off x="571500" y="1524000"/>
            <a:ext cx="7067550" cy="4476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D718AA-018E-4818-8876-808C9860F8F6}"/>
              </a:ext>
            </a:extLst>
          </p:cNvPr>
          <p:cNvSpPr>
            <a:spLocks noGrp="1"/>
          </p:cNvSpPr>
          <p:nvPr/>
        </p:nvSpPr>
        <p:spPr>
          <a:xfrm>
            <a:off x="8096250" y="16383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WORKFLOW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4AA168-3DE8-473C-A9A0-AF29B5576E01}"/>
              </a:ext>
            </a:extLst>
          </p:cNvPr>
          <p:cNvSpPr>
            <a:spLocks noGrp="1"/>
          </p:cNvSpPr>
          <p:nvPr/>
        </p:nvSpPr>
        <p:spPr>
          <a:xfrm>
            <a:off x="8096250" y="1981200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Issues, feature branches and pull requests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829D57-7FE2-45D3-A88F-1459AEFEE369}"/>
              </a:ext>
            </a:extLst>
          </p:cNvPr>
          <p:cNvSpPr>
            <a:spLocks noGrp="1"/>
          </p:cNvSpPr>
          <p:nvPr/>
        </p:nvSpPr>
        <p:spPr>
          <a:xfrm>
            <a:off x="8096250" y="30861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28C28"/>
                </a:solidFill>
                <a:latin typeface="Bitstream Charter"/>
                <a:ea typeface="Bitstream Charter"/>
                <a:cs typeface="Bitstream Charter"/>
              </a:rPr>
              <a:t>VERIFICATION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36D5A-4329-4641-B4BE-EC7547D37FE6}"/>
              </a:ext>
            </a:extLst>
          </p:cNvPr>
          <p:cNvSpPr>
            <a:spLocks noGrp="1"/>
          </p:cNvSpPr>
          <p:nvPr/>
        </p:nvSpPr>
        <p:spPr>
          <a:xfrm>
            <a:off x="8096250" y="3429000"/>
            <a:ext cx="32385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10 automated tests</a:t>
            </a:r>
          </a:p>
          <a:p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Lint and production build</a:t>
            </a:r>
          </a:p>
          <a:p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Browser and Netlify checks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69F350-0B47-4266-9F34-59E2AE29BA3D}"/>
              </a:ext>
            </a:extLst>
          </p:cNvPr>
          <p:cNvSpPr>
            <a:spLocks noGrp="1"/>
          </p:cNvSpPr>
          <p:nvPr/>
        </p:nvSpPr>
        <p:spPr>
          <a:xfrm>
            <a:off x="8096250" y="501015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VISIBLE PROGRESS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8B1F01-CD17-4630-96A7-32C2FCDDE748}"/>
              </a:ext>
            </a:extLst>
          </p:cNvPr>
          <p:cNvSpPr>
            <a:spLocks noGrp="1"/>
          </p:cNvSpPr>
          <p:nvPr/>
        </p:nvSpPr>
        <p:spPr>
          <a:xfrm>
            <a:off x="8096250" y="5353050"/>
            <a:ext cx="32385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18 Issues completed; Issue #19 covers the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53898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5609D95-27E7-4B9A-97CD-02D7C06D2E6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38A5B"/>
                </a:solidFill>
                <a:latin typeface="Bitstream Charter"/>
                <a:ea typeface="Bitstream Charter"/>
                <a:cs typeface="Bitstream Charter"/>
              </a:rPr>
              <a:t>PRESENTATION HANDOFF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9A0891-7087-4A17-9AD8-EBF7DC52D47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Team learning and live demo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B90B47-7F9C-4AE4-9405-9861BB134B7C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819150" cy="5715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33BE4B-8CAE-4733-B716-DCAA4643EFB1}"/>
              </a:ext>
            </a:extLst>
          </p:cNvPr>
          <p:cNvSpPr>
            <a:spLocks noGrp="1"/>
          </p:cNvSpPr>
          <p:nvPr/>
        </p:nvSpPr>
        <p:spPr>
          <a:xfrm>
            <a:off x="742950" y="1666875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A8D8C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A8D8C4"/>
                </a:solidFill>
                <a:latin typeface="Bitstream Charter"/>
                <a:ea typeface="Bitstream Charter"/>
                <a:cs typeface="Bitstream Charter"/>
              </a:rPr>
              <a:t>KELVIN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3B3F50-F570-43DE-B8E6-4FC7DC5E3B07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Product and user journey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A3E12-A8BF-49E5-A9CC-A84CCCBD50C0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4857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DC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CE7EF"/>
                </a:solidFill>
                <a:latin typeface="Bitstream Charter"/>
                <a:ea typeface="Bitstream Charter"/>
                <a:cs typeface="Bitstream Charter"/>
              </a:rPr>
              <a:t>Problem, catalogue, filters, details and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3CB251-47D6-4142-A0FB-65DDB5B0504A}"/>
              </a:ext>
            </a:extLst>
          </p:cNvPr>
          <p:cNvSpPr>
            <a:spLocks noGrp="1"/>
          </p:cNvSpPr>
          <p:nvPr/>
        </p:nvSpPr>
        <p:spPr>
          <a:xfrm>
            <a:off x="6572250" y="1666875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FD39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D39C"/>
                </a:solidFill>
                <a:latin typeface="Bitstream Charter"/>
                <a:ea typeface="Bitstream Charter"/>
                <a:cs typeface="Bitstream Charter"/>
              </a:rPr>
              <a:t>JEFFREY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41975D-A279-42F5-AA76-602E57FDADED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Integration and delivery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8464BD-FB32-4587-A020-FF6A0F3913AA}"/>
              </a:ext>
            </a:extLst>
          </p:cNvPr>
          <p:cNvSpPr>
            <a:spLocks noGrp="1"/>
          </p:cNvSpPr>
          <p:nvPr/>
        </p:nvSpPr>
        <p:spPr>
          <a:xfrm>
            <a:off x="6572250" y="2609850"/>
            <a:ext cx="4857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DC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CE7EF"/>
                </a:solidFill>
                <a:latin typeface="Bitstream Charter"/>
                <a:ea typeface="Bitstream Charter"/>
                <a:cs typeface="Bitstream Charter"/>
              </a:rPr>
              <a:t>Form, shortlist, persistence, testing, deployment and documentation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40CD7-F20D-4A3D-B6F7-78D4A2E35E01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0820400" cy="19050"/>
          </a:xfrm>
          <a:prstGeom prst="rect">
            <a:avLst/>
          </a:prstGeom>
          <a:solidFill>
            <a:srgbClr val="46647C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EA8164-57C1-4BBE-9FB2-AA486513438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A8D8C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A8D8C4"/>
                </a:solidFill>
                <a:latin typeface="Bitstream Charter"/>
                <a:ea typeface="Bitstream Charter"/>
                <a:cs typeface="Bitstream Charter"/>
              </a:rPr>
              <a:t>LIVE DEMO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B74663-8807-44D9-820D-867DA0493A23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Kelvin  ~3 min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2361B5-065E-446B-9179-BC84EAE99A3B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DC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DCE7EF"/>
                </a:solidFill>
                <a:latin typeface="Bitstream Charter"/>
                <a:ea typeface="Bitstream Charter"/>
                <a:cs typeface="Bitstream Charter"/>
              </a:rPr>
              <a:t>Catalogue, filters, details and evidence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08481-B03A-45F1-B318-7A524C27C256}"/>
              </a:ext>
            </a:extLst>
          </p:cNvPr>
          <p:cNvSpPr>
            <a:spLocks noGrp="1"/>
          </p:cNvSpPr>
          <p:nvPr/>
        </p:nvSpPr>
        <p:spPr>
          <a:xfrm>
            <a:off x="5810250" y="44386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Jeffrey  ~4 min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0F459E-D424-4B13-8B10-87180DEED011}"/>
              </a:ext>
            </a:extLst>
          </p:cNvPr>
          <p:cNvSpPr>
            <a:spLocks noGrp="1"/>
          </p:cNvSpPr>
          <p:nvPr/>
        </p:nvSpPr>
        <p:spPr>
          <a:xfrm>
            <a:off x="5810250" y="4857750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DC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DCE7EF"/>
                </a:solidFill>
                <a:latin typeface="Bitstream Charter"/>
                <a:ea typeface="Bitstream Charter"/>
                <a:cs typeface="Bitstream Charter"/>
              </a:rPr>
              <a:t>Create, shortlist, reorder, refresh and delete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CB9B1C-39EE-4195-96F2-08CDB80EA612}"/>
              </a:ext>
            </a:extLst>
          </p:cNvPr>
          <p:cNvSpPr>
            <a:spLocks noGrp="1"/>
          </p:cNvSpPr>
          <p:nvPr/>
        </p:nvSpPr>
        <p:spPr>
          <a:xfrm>
            <a:off x="742950" y="59245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FFD39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D39C"/>
                </a:solidFill>
                <a:latin typeface="Bitstream Charter"/>
                <a:ea typeface="Bitstream Charter"/>
                <a:cs typeface="Bitstream Charter"/>
              </a:rPr>
              <a:t>Target: 13–14 minutes total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A6ACA4-5E6B-41B7-90C1-61FE4DB179AA}"/>
              </a:ext>
            </a:extLst>
          </p:cNvPr>
          <p:cNvSpPr>
            <a:spLocks noGrp="1"/>
          </p:cNvSpPr>
          <p:nvPr/>
        </p:nvSpPr>
        <p:spPr>
          <a:xfrm>
            <a:off x="5810250" y="592455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A8D8C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A8D8C4"/>
                </a:solidFill>
                <a:latin typeface="Bitstream Charter"/>
                <a:ea typeface="Bitstream Charter"/>
                <a:cs typeface="Bitstream Charter"/>
              </a:rPr>
              <a:t>Backup: Netlify, local app and screenshots</a:t>
            </a:r>
          </a:p>
        </p:txBody>
      </p:sp>
    </p:spTree>
    <p:extLst>
      <p:ext uri="{BB962C8B-B14F-4D97-AF65-F5344CB8AC3E}">
        <p14:creationId xmlns:p14="http://schemas.microsoft.com/office/powerpoint/2010/main" val="4407428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Microsoft Office PowerPoint</Application>
  <DocSecurity>0</DocSecurity>
  <PresentationFormat>Widescreen</PresentationFormat>
  <Paragraphs>111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Bitstream Charter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Jeffrey Kong</cp:lastModifiedBy>
  <cp:revision>1</cp:revision>
  <dcterms:created xsi:type="dcterms:W3CDTF">2026-09-27T15:55:47Z</dcterms:created>
  <dcterms:modified xsi:type="dcterms:W3CDTF">2026-09-27T16:12:40Z</dcterms:modified>
</cp:coreProperties>
</file>